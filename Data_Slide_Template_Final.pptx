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95" d="100"/>
          <a:sy n="95" d="100"/>
        </p:scale>
        <p:origin x="90" y="43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9/22/2026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9/22/2026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image" Target="../media/image14.png"/><Relationship Id="rId5" Type="http://schemas.openxmlformats.org/officeDocument/2006/relationships/oleObject" Target="../embeddings/oleObject16.bin"/><Relationship Id="rId10" Type="http://schemas.openxmlformats.org/officeDocument/2006/relationships/image" Target="../media/image13.png"/><Relationship Id="rId4" Type="http://schemas.openxmlformats.org/officeDocument/2006/relationships/slideLayout" Target="../slideLayouts/slideLayout2.xml"/><Relationship Id="rId9"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470898"/>
          </a:xfrm>
        </p:spPr>
        <p:txBody>
          <a:bodyPr anchor="t"/>
          <a:lstStyle/>
          <a:p>
            <a:r>
              <a:rPr lang="en-US" b="1" dirty="0">
                <a:solidFill>
                  <a:srgbClr val="002060"/>
                </a:solidFill>
              </a:rPr>
              <a:t>Marketing Campaign Performance &amp; Growth Insights</a:t>
            </a:r>
          </a:p>
        </p:txBody>
      </p:sp>
      <p:sp>
        <p:nvSpPr>
          <p:cNvPr id="2" name="Rectangle 1">
            <a:extLst>
              <a:ext uri="{FF2B5EF4-FFF2-40B4-BE49-F238E27FC236}">
                <a16:creationId xmlns:a16="http://schemas.microsoft.com/office/drawing/2014/main" id="{477E036F-AF50-32A5-AA87-4A97F3F6A88D}"/>
              </a:ext>
            </a:extLst>
          </p:cNvPr>
          <p:cNvSpPr/>
          <p:nvPr/>
        </p:nvSpPr>
        <p:spPr>
          <a:xfrm>
            <a:off x="763350" y="4798724"/>
            <a:ext cx="10933200" cy="2059275"/>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r>
              <a:rPr lang="en-US" sz="1600" b="1" dirty="0">
                <a:solidFill>
                  <a:srgbClr val="000000"/>
                </a:solidFill>
              </a:rPr>
              <a:t>Recommendation:</a:t>
            </a:r>
          </a:p>
          <a:p>
            <a:pPr lvl="0"/>
            <a:r>
              <a:rPr lang="en-US" sz="2000" b="1" dirty="0">
                <a:solidFill>
                  <a:srgbClr val="002060"/>
                </a:solidFill>
              </a:rPr>
              <a:t>Scale Email:</a:t>
            </a:r>
            <a:r>
              <a:rPr lang="en-US" sz="2000" dirty="0">
                <a:solidFill>
                  <a:srgbClr val="002060"/>
                </a:solidFill>
              </a:rPr>
              <a:t> </a:t>
            </a:r>
            <a:r>
              <a:rPr lang="en-US" sz="1600" dirty="0">
                <a:solidFill>
                  <a:srgbClr val="002060"/>
                </a:solidFill>
              </a:rPr>
              <a:t>Make Email the core conversion channel, using Campaign A’s messaging because it generated significantly higher new-customer sales. </a:t>
            </a:r>
          </a:p>
          <a:p>
            <a:pPr lvl="0"/>
            <a:r>
              <a:rPr lang="en-US" sz="2000" b="1" dirty="0">
                <a:solidFill>
                  <a:srgbClr val="002060"/>
                </a:solidFill>
              </a:rPr>
              <a:t>Improve Instagram:</a:t>
            </a:r>
            <a:r>
              <a:rPr lang="en-US" sz="2000" dirty="0">
                <a:solidFill>
                  <a:srgbClr val="002060"/>
                </a:solidFill>
              </a:rPr>
              <a:t> </a:t>
            </a:r>
            <a:r>
              <a:rPr lang="en-US" sz="1600" dirty="0">
                <a:solidFill>
                  <a:srgbClr val="002060"/>
                </a:solidFill>
              </a:rPr>
              <a:t>Retarget high-engagement Instagram visitors and test Campaign A-style messaging to increase conversions. </a:t>
            </a:r>
          </a:p>
          <a:p>
            <a:pPr lvl="0"/>
            <a:r>
              <a:rPr lang="en-US" sz="2000" b="1" dirty="0">
                <a:solidFill>
                  <a:srgbClr val="002060"/>
                </a:solidFill>
              </a:rPr>
              <a:t>Reallocate Budget:</a:t>
            </a:r>
            <a:r>
              <a:rPr lang="en-US" sz="2000" dirty="0">
                <a:solidFill>
                  <a:srgbClr val="002060"/>
                </a:solidFill>
              </a:rPr>
              <a:t> </a:t>
            </a:r>
            <a:r>
              <a:rPr lang="en-US" sz="1600" dirty="0">
                <a:solidFill>
                  <a:srgbClr val="002060"/>
                </a:solidFill>
              </a:rPr>
              <a:t>Reduce spending on low-performing Web Banners and Campaign B, shifting more budget toward Email and Instagram retargeting.</a:t>
            </a:r>
          </a:p>
          <a:p>
            <a:endParaRPr lang="en-US" sz="1600"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695959" y="1654022"/>
            <a:ext cx="3503456" cy="338554"/>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dirty="0">
                <a:solidFill>
                  <a:srgbClr val="002060"/>
                </a:solidFill>
              </a:rPr>
              <a:t>New Customer Sales by Combo ($)</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5034224" y="2158395"/>
            <a:ext cx="298409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8924055" y="2136455"/>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950544" y="1561688"/>
            <a:ext cx="3151456" cy="58477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sz="1800" b="1" i="0" u="none" strike="noStrike" kern="1200" baseline="0">
                <a:solidFill>
                  <a:sysClr val="windowText" lastClr="000000"/>
                </a:solidFill>
                <a:latin typeface="+mn-lt"/>
                <a:ea typeface="+mn-ea"/>
                <a:cs typeface="+mn-cs"/>
              </a:defRPr>
            </a:pPr>
            <a:r>
              <a:rPr lang="en-US" sz="1600" dirty="0">
                <a:solidFill>
                  <a:srgbClr val="002060"/>
                </a:solidFill>
              </a:rPr>
              <a:t>Revenue by Channel &amp; Customer Type</a:t>
            </a:r>
          </a:p>
        </p:txBody>
      </p:sp>
      <p:sp>
        <p:nvSpPr>
          <p:cNvPr id="54" name="Rectangle 53">
            <a:extLst>
              <a:ext uri="{FF2B5EF4-FFF2-40B4-BE49-F238E27FC236}">
                <a16:creationId xmlns:a16="http://schemas.microsoft.com/office/drawing/2014/main" id="{AC2F7AF7-DC76-6C1A-0458-2264EDF24BF9}"/>
              </a:ext>
            </a:extLst>
          </p:cNvPr>
          <p:cNvSpPr/>
          <p:nvPr/>
        </p:nvSpPr>
        <p:spPr>
          <a:xfrm>
            <a:off x="9100885" y="1469089"/>
            <a:ext cx="2328814" cy="58477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sz="1800" b="1" i="0" u="none" strike="noStrike" kern="1200" baseline="0">
                <a:solidFill>
                  <a:sysClr val="windowText" lastClr="000000"/>
                </a:solidFill>
                <a:latin typeface="+mn-lt"/>
                <a:ea typeface="+mn-ea"/>
                <a:cs typeface="+mn-cs"/>
              </a:defRPr>
            </a:pPr>
            <a:r>
              <a:rPr lang="en-US" sz="1600" dirty="0">
                <a:solidFill>
                  <a:srgbClr val="002060"/>
                </a:solidFill>
              </a:rPr>
              <a:t>Avg. Time on Site for Non-Converters (sec)</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9" name="Picture 8">
            <a:extLst>
              <a:ext uri="{FF2B5EF4-FFF2-40B4-BE49-F238E27FC236}">
                <a16:creationId xmlns:a16="http://schemas.microsoft.com/office/drawing/2014/main" id="{0172E0B7-C7C5-0AD5-2EE5-C68E1A71F09D}"/>
              </a:ext>
            </a:extLst>
          </p:cNvPr>
          <p:cNvPicPr>
            <a:picLocks noChangeAspect="1"/>
          </p:cNvPicPr>
          <p:nvPr/>
        </p:nvPicPr>
        <p:blipFill>
          <a:blip r:embed="rId9"/>
          <a:stretch>
            <a:fillRect/>
          </a:stretch>
        </p:blipFill>
        <p:spPr>
          <a:xfrm>
            <a:off x="585431" y="2140677"/>
            <a:ext cx="3432531" cy="2525512"/>
          </a:xfrm>
          <a:prstGeom prst="rect">
            <a:avLst/>
          </a:prstGeom>
        </p:spPr>
      </p:pic>
      <p:pic>
        <p:nvPicPr>
          <p:cNvPr id="11" name="Picture 10">
            <a:extLst>
              <a:ext uri="{FF2B5EF4-FFF2-40B4-BE49-F238E27FC236}">
                <a16:creationId xmlns:a16="http://schemas.microsoft.com/office/drawing/2014/main" id="{234F4AE3-B5ED-8F1A-6A98-71D044B91FAD}"/>
              </a:ext>
            </a:extLst>
          </p:cNvPr>
          <p:cNvPicPr>
            <a:picLocks noChangeAspect="1"/>
          </p:cNvPicPr>
          <p:nvPr/>
        </p:nvPicPr>
        <p:blipFill>
          <a:blip r:embed="rId10"/>
          <a:stretch>
            <a:fillRect/>
          </a:stretch>
        </p:blipFill>
        <p:spPr>
          <a:xfrm>
            <a:off x="4465215" y="2154551"/>
            <a:ext cx="3553106" cy="2541209"/>
          </a:xfrm>
          <a:prstGeom prst="rect">
            <a:avLst/>
          </a:prstGeom>
        </p:spPr>
      </p:pic>
      <p:pic>
        <p:nvPicPr>
          <p:cNvPr id="13" name="Picture 12">
            <a:extLst>
              <a:ext uri="{FF2B5EF4-FFF2-40B4-BE49-F238E27FC236}">
                <a16:creationId xmlns:a16="http://schemas.microsoft.com/office/drawing/2014/main" id="{F3238366-6015-D849-1413-9F5B434252F5}"/>
              </a:ext>
            </a:extLst>
          </p:cNvPr>
          <p:cNvPicPr>
            <a:picLocks noChangeAspect="1"/>
          </p:cNvPicPr>
          <p:nvPr/>
        </p:nvPicPr>
        <p:blipFill>
          <a:blip r:embed="rId11"/>
          <a:stretch>
            <a:fillRect/>
          </a:stretch>
        </p:blipFill>
        <p:spPr>
          <a:xfrm>
            <a:off x="8331202" y="2124979"/>
            <a:ext cx="3606276" cy="2541209"/>
          </a:xfrm>
          <a:prstGeom prst="rect">
            <a:avLst/>
          </a:prstGeom>
        </p:spPr>
      </p:pic>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BCG Grid 16:9</Template>
  <TotalTime>135</TotalTime>
  <Words>90</Words>
  <Application>Microsoft Office PowerPoint</Application>
  <PresentationFormat>Widescreen</PresentationFormat>
  <Paragraphs>8</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Marketing Campaign Performance &amp; Growth Insights</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Pyi Kyaw Lynn</cp:lastModifiedBy>
  <cp:revision>14</cp:revision>
  <cp:lastPrinted>2016-04-06T18:59:25Z</cp:lastPrinted>
  <dcterms:created xsi:type="dcterms:W3CDTF">2025-04-28T17:07:03Z</dcterms:created>
  <dcterms:modified xsi:type="dcterms:W3CDTF">2026-09-22T04:49:12Z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